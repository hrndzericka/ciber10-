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Refuerzo con un proyecto guía: el riego automático de la huerta del colegio.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un Arduino o una micro:bit si tiene disponible.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con el ciclo del RA1: percibir, razonar y actuar, ahora con nombres de dispositivos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qué sensor usarían para saber si un tanque de agua está lleno (ultrasónico).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con la presentación del tema, que desarrolla estas tecnologías con más detalle.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el mismo algoritmo en bloques y en pseudocódigo. Las interfaces (IDE, app Bluetooth, LCD, HMI, monitor serie) permiten programar, controlar o monitorear.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interfaz sirve para programar, controlar o monitorear. Pida clasificar cada ejemplo en una de esas tres funciones.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qué pasa si se escribe bomba ← APAGADA en ambos casos (error del cotidiano).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LDR; 2) un driver de motores o un relé; 3) analógica; 4) para ver en la computadora los valores que leen los sensores.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El cotidiano incluye rotular un robot sigue-líneas y depurar pseudocódigo.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RA5 · Tecnologías robóticas · Aplicación de la robótica · CTP Mercedes 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822960"/>
            <a:ext cx="5120640" cy="51206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206240"/>
            <a:ext cx="2377440" cy="237744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Aplicación de la robótica · Décimo</a:t>
            </a:r>
            <a:endParaRPr lang="en-US" sz="16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9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RA5</a:t>
            </a:r>
            <a:endParaRPr lang="en-US" sz="28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23317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robóticas</a:t>
            </a:r>
            <a:endParaRPr lang="en-US" sz="44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y práctica: sensores, controladores, lenguajes e interfaces trabajando juntos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Ericka Hernández Mena · CTP Mercedes Norte · Ciberseguridad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91640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91640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91640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piezas del sistema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596896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596896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596896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Sensores: qué miden y cómo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502152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502152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502152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que potencian al robot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407408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407408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407408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o texto, e interfaces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312664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312664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5312664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Caso: riego automático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686800" y="1691640"/>
            <a:ext cx="2953512" cy="4343400"/>
          </a:xfrm>
          <a:prstGeom prst="roundRect">
            <a:avLst>
              <a:gd name="adj" fmla="val 4644"/>
            </a:avLst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4" y="2148840"/>
            <a:ext cx="1371600" cy="1371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961120" y="374904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utilizar tecnologías robóticas con lenguajes, interfaces y dispositivos.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piezas de un sistema robótico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2148840"/>
            <a:ext cx="731520" cy="73152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339035"/>
            <a:ext cx="351130" cy="3511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97180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42900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Perciben: distancia, luz, humedad, movimiento.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3390824" y="19202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619424" y="2148840"/>
            <a:ext cx="731520" cy="73152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619" y="2339035"/>
            <a:ext cx="351130" cy="35113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19424" y="297180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3619424" y="342900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Arduino, ESP32, micro:bit, PLC.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6233008" y="19202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61608" y="2148840"/>
            <a:ext cx="731520" cy="731520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803" y="2339035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61608" y="297180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Actuadores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6461608" y="342900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Actúan: motores, servos, bomba, zumbador.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9075191" y="19202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303791" y="2148840"/>
            <a:ext cx="731520" cy="731520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3987" y="2339035"/>
            <a:ext cx="351130" cy="35113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303791" y="297180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2200" dirty="0"/>
          </a:p>
        </p:txBody>
      </p:sp>
      <p:sp>
        <p:nvSpPr>
          <p:cNvPr id="23" name="Text 16"/>
          <p:cNvSpPr txBox="1"/>
          <p:nvPr/>
        </p:nvSpPr>
        <p:spPr>
          <a:xfrm>
            <a:off x="9303791" y="342900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Conecta: cables, Bluetooth, wifi.</a:t>
            </a:r>
            <a:endParaRPr lang="en-US" sz="1900" dirty="0"/>
          </a:p>
        </p:txBody>
      </p:sp>
      <p:sp>
        <p:nvSpPr>
          <p:cNvPr id="24" name="Shape 17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no mueve motores directo: usa un driver de motores o un relé.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más usados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194560"/>
                <a:gridCol w="3410712"/>
              </a:tblGrid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mide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Ultrasónico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 con eco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del eco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Esquivar obstáculos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Infrarrojo de línea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Superficie clara u oscura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sigue-líneas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 de luz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Analógica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Luces al anochecer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Humedad de suelo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 en la tierra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Analógica (0 a 1023)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Riego automático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Movimiento de personas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Alarmas, pasillos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Digital: solo dos valores (0 o 1). Analógica: un rango de valores.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que potencian al robot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1999427" cy="3108960"/>
          </a:xfrm>
          <a:prstGeom prst="roundRect">
            <a:avLst>
              <a:gd name="adj" fmla="val 5488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2148840"/>
            <a:ext cx="731520" cy="73152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339035"/>
            <a:ext cx="351130" cy="3511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97180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429000"/>
            <a:ext cx="154222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y decide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2822387" y="1920240"/>
            <a:ext cx="1999427" cy="3108960"/>
          </a:xfrm>
          <a:prstGeom prst="roundRect">
            <a:avLst>
              <a:gd name="adj" fmla="val 5488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050987" y="2148840"/>
            <a:ext cx="731520" cy="73152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182" y="2339035"/>
            <a:ext cx="351130" cy="35113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050987" y="297180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3050987" y="3429000"/>
            <a:ext cx="154222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por internet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5096134" y="1920240"/>
            <a:ext cx="1999427" cy="3108960"/>
          </a:xfrm>
          <a:prstGeom prst="roundRect">
            <a:avLst>
              <a:gd name="adj" fmla="val 5488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24734" y="2148840"/>
            <a:ext cx="731520" cy="731520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929" y="2339035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24734" y="297180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5324734" y="3429000"/>
            <a:ext cx="154222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imágenes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7369881" y="1920240"/>
            <a:ext cx="1999427" cy="3108960"/>
          </a:xfrm>
          <a:prstGeom prst="roundRect">
            <a:avLst>
              <a:gd name="adj" fmla="val 5488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598481" y="2148840"/>
            <a:ext cx="731520" cy="731520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676" y="2339035"/>
            <a:ext cx="351130" cy="35113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598481" y="297180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</a:t>
            </a:r>
            <a:endParaRPr lang="en-US" sz="2200" dirty="0"/>
          </a:p>
        </p:txBody>
      </p:sp>
      <p:sp>
        <p:nvSpPr>
          <p:cNvPr id="23" name="Text 16"/>
          <p:cNvSpPr txBox="1"/>
          <p:nvPr/>
        </p:nvSpPr>
        <p:spPr>
          <a:xfrm>
            <a:off x="7598481" y="3429000"/>
            <a:ext cx="154222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y procesa datos</a:t>
            </a:r>
            <a:endParaRPr lang="en-US" sz="1900" dirty="0"/>
          </a:p>
        </p:txBody>
      </p:sp>
      <p:sp>
        <p:nvSpPr>
          <p:cNvPr id="24" name="Shape 17"/>
          <p:cNvSpPr/>
          <p:nvPr/>
        </p:nvSpPr>
        <p:spPr>
          <a:xfrm>
            <a:off x="9643628" y="1920240"/>
            <a:ext cx="1999427" cy="3108960"/>
          </a:xfrm>
          <a:prstGeom prst="roundRect">
            <a:avLst>
              <a:gd name="adj" fmla="val 5488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9872228" y="2148840"/>
            <a:ext cx="731520" cy="73152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2423" y="2339035"/>
            <a:ext cx="351130" cy="35113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872228" y="297180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Embebidos</a:t>
            </a:r>
            <a:endParaRPr lang="en-US" sz="2200" dirty="0"/>
          </a:p>
        </p:txBody>
      </p:sp>
      <p:sp>
        <p:nvSpPr>
          <p:cNvPr id="28" name="Text 20"/>
          <p:cNvSpPr txBox="1"/>
          <p:nvPr/>
        </p:nvSpPr>
        <p:spPr>
          <a:xfrm>
            <a:off x="9872228" y="3429000"/>
            <a:ext cx="154222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 por dentro</a:t>
            </a:r>
            <a:endParaRPr lang="en-US" sz="1900" dirty="0"/>
          </a:p>
        </p:txBody>
      </p:sp>
      <p:sp>
        <p:nvSpPr>
          <p:cNvPr id="29" name="Shape 21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robot agrícola recibe datos de humedad por IoT y decide cuándo regar.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¿Bloques o texto?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5364328" cy="3794760"/>
          </a:xfrm>
          <a:prstGeom prst="roundRect">
            <a:avLst>
              <a:gd name="adj" fmla="val 289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82880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bloques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468880"/>
            <a:ext cx="4724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arrastran piezas visuales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sin errores de sintaxis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empezar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Scratch, Blockly, MakeCode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278728" y="1600200"/>
            <a:ext cx="5364328" cy="3794760"/>
          </a:xfrm>
          <a:prstGeom prst="roundRect">
            <a:avLst>
              <a:gd name="adj" fmla="val 2892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98768" y="182880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E8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texto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6598768" y="2468880"/>
            <a:ext cx="4724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código exacto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control y potencia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avanzados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(Arduino), Python, Java, MATLAB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FBEFE3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programar en cualquiera de los dos, se planifica en pseudocódigo.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Interfaces: cómo nos comunicamos con el robot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2148840"/>
            <a:ext cx="731520" cy="73152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339035"/>
            <a:ext cx="351130" cy="3511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97180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42900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y cargar el código a la placa.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3390824" y="19202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619424" y="2148840"/>
            <a:ext cx="731520" cy="73152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619" y="2339035"/>
            <a:ext cx="351130" cy="35113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19424" y="297180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Bluetooth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3619424" y="342900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Manejar el robot desde el celular.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6233008" y="19202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61608" y="2148840"/>
            <a:ext cx="731520" cy="731520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803" y="2339035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61608" y="297180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LCD y HMI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6461608" y="342900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datos y supervisar un proceso.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9075191" y="1920240"/>
            <a:ext cx="2567864" cy="3108960"/>
          </a:xfrm>
          <a:prstGeom prst="roundRect">
            <a:avLst>
              <a:gd name="adj" fmla="val 4273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303791" y="2148840"/>
            <a:ext cx="731520" cy="731520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3987" y="2339035"/>
            <a:ext cx="351130" cy="35113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303791" y="297180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serie</a:t>
            </a:r>
            <a:endParaRPr lang="en-US" sz="2200" dirty="0"/>
          </a:p>
        </p:txBody>
      </p:sp>
      <p:sp>
        <p:nvSpPr>
          <p:cNvPr id="23" name="Text 16"/>
          <p:cNvSpPr txBox="1"/>
          <p:nvPr/>
        </p:nvSpPr>
        <p:spPr>
          <a:xfrm>
            <a:off x="9303791" y="342900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en la computadora lo que miden los sensores.</a:t>
            </a:r>
            <a:endParaRPr lang="en-US" sz="1900" dirty="0"/>
          </a:p>
        </p:txBody>
      </p:sp>
      <p:sp>
        <p:nvSpPr>
          <p:cNvPr id="24" name="Shape 17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que conectan las partes: USB, Bluetooth, wifi, Ethernet, RS-232 y CAN Bus.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práctico: riego de la huerta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para la feria científica regional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6309360" cy="4297680"/>
          </a:xfrm>
          <a:prstGeom prst="roundRect">
            <a:avLst>
              <a:gd name="adj" fmla="val 2553"/>
            </a:avLst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057400"/>
            <a:ext cx="5760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MIENTRAS VERDADERO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humedad ← leer(sensor_suelo)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mostrar_LCD(humedad)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 humedad &lt; 300 ENTONCES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bomba ← ENCENDIDA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enviar_aviso_wifi("Regando")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SINO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bomba ← APAGADA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 SI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ESPERAR 10 minutos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 MIENTRAS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874520"/>
            <a:ext cx="441929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humedad: percibe (señal analógica)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Controlador: compara con el umbral 300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Relé y bomba: actúan si la tierra está seca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y aviso wifi: interfaces de monitoreo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programa en el IDE y se carga a la placa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rápido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Respondé en voz alta o en tu cuaderno antes de abrir el cotidiano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¿1?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sensor usarías para encender luces al anochecer?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7328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¿2?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07328" y="2468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componente necesita un motor para conectarse a la placa?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FBEFE3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85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¿3?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754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 de señal da un sensor de 0 a 1023?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33008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7328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¿4?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4754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 el monitor serie?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143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robot es un equipo de tecnologías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606040"/>
            <a:ext cx="7498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Sensores, controlador, actuadores y comunicación trabajan juntos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IA, IoT y visión artificial amplían lo que puede hacer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define el comportamiento; la interfaz lo conecta con las personas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40080" y="5257800"/>
            <a:ext cx="7498080" cy="777240"/>
          </a:xfrm>
          <a:prstGeom prst="roundRect">
            <a:avLst>
              <a:gd name="adj" fmla="val 14118"/>
            </a:avLst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14400" y="52578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cotidiano interactivo «Robots en la feria científica»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tica U3">
  <a:themeElements>
    <a:clrScheme name="Robotica U3">
      <a:dk1>
        <a:srgbClr val="14203A"/>
      </a:dk1>
      <a:lt1>
        <a:srgbClr val="FFFFFF"/>
      </a:lt1>
      <a:dk2>
        <a:srgbClr val="101A2E"/>
      </a:dk2>
      <a:lt2>
        <a:srgbClr val="F3F5F9"/>
      </a:lt2>
      <a:accent1>
        <a:srgbClr val="6A3DD8"/>
      </a:accent1>
      <a:accent2>
        <a:srgbClr val="0E8C81"/>
      </a:accent2>
      <a:accent3>
        <a:srgbClr val="A8520B"/>
      </a:accent3>
      <a:accent4>
        <a:srgbClr val="A98BFA"/>
      </a:accent4>
      <a:accent5>
        <a:srgbClr val="3DD3C2"/>
      </a:accent5>
      <a:accent6>
        <a:srgbClr val="F0A855"/>
      </a:accent6>
      <a:hlink>
        <a:srgbClr val="6A3DD8"/>
      </a:hlink>
      <a:folHlink>
        <a:srgbClr val="0E8C81"/>
      </a:folHlink>
    </a:clrScheme>
    <a:fontScheme name="Robotica U3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CTP Mercedes Norte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RA5 Tecnologías robóticas: repaso y práctica</dc:title>
  <dc:subject>PptxGenJS Presentation</dc:subject>
  <dc:creator>MsC. Ericka Hernández Mena</dc:creator>
  <cp:lastModifiedBy>MsC. Ericka Hernández Mena</cp:lastModifiedBy>
  <cp:revision>1</cp:revision>
  <dcterms:created xsi:type="dcterms:W3CDTF">2026-10-06T18:27:34Z</dcterms:created>
  <dcterms:modified xsi:type="dcterms:W3CDTF">2026-10-06T18:27:34Z</dcterms:modified>
</cp:coreProperties>
</file>