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Refuerzo centrado en clasificar robots, planificar su diseño y medir su desempeño con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qué robot de película o de la vida real conocen y en qué nivel lo pondrían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línea del tiempo aparece en el cotidiano como actividad de ordenar.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videos cortos o imágenes y pida que los ubiquen en un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Repase las cinco etapas: necesidad, concepto, mecánico, electrónico y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un ejemplo nacional o cercano para tres de los sectores.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Resuelva con el grupo. Enfatice probar varias veces en las mismas condiciones y anotar en una tabla.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adaptativo (nivel 2); 2) hogar contra edificios; 3) 75 %; 4) sí: cumple la tarea pero gasta demasiado tiempo o energía.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unidad técnica. Indique el cotidiano y anuncie el juego final de la 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RA6 · Robots y retos · Aplicación de la robótica · CTP Mercedes Norte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822960"/>
            <a:ext cx="5120640" cy="51206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206240"/>
            <a:ext cx="2377440" cy="237744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Aplicación de la robótica · Décimo</a:t>
            </a:r>
            <a:endParaRPr lang="en-US" sz="16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9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RA6</a:t>
            </a:r>
            <a:endParaRPr lang="en-US" sz="28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23317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y retos</a:t>
            </a:r>
            <a:endParaRPr lang="en-US" sz="4400" dirty="0"/>
          </a:p>
        </p:txBody>
      </p:sp>
      <p:sp>
        <p:nvSpPr>
          <p:cNvPr id="8" name="Text 3"/>
          <p:cNvSpPr txBox="1"/>
          <p:nvPr/>
        </p:nvSpPr>
        <p:spPr>
          <a:xfrm>
            <a:off x="6400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y práctica: historia, inteligencia, diseño y evaluación de un robot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Ericka Hernández Mena · CTP Mercedes Norte · Ciberseguridad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91640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691640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91640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autómatas a los rovers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596896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596896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596896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niveles de inteligencia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502152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502152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502152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en tres capas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407408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407408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4407408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por sector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312664"/>
            <a:ext cx="7680960" cy="722376"/>
          </a:xfrm>
          <a:prstGeom prst="roundRect">
            <a:avLst>
              <a:gd name="adj" fmla="val 15190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312664"/>
            <a:ext cx="5486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5312664"/>
            <a:ext cx="6675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Evaluar: efectividad y eficiencia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686800" y="1691640"/>
            <a:ext cx="2953512" cy="4343400"/>
          </a:xfrm>
          <a:prstGeom prst="roundRect">
            <a:avLst>
              <a:gd name="adj" fmla="val 4644"/>
            </a:avLst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4" y="2148840"/>
            <a:ext cx="1371600" cy="1371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961120" y="374904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aplicar la robótica en la resolución de retos específicos.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Momentos clave de la robótica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3291840"/>
            <a:ext cx="11094415" cy="0"/>
          </a:xfrm>
          <a:prstGeom prst="line">
            <a:avLst/>
          </a:prstGeom>
          <a:noFill/>
          <a:ln w="38100">
            <a:solidFill>
              <a:srgbClr val="D5DCE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502634" y="3136392"/>
            <a:ext cx="310896" cy="310896"/>
          </a:xfrm>
          <a:prstGeom prst="ellipse">
            <a:avLst/>
          </a:prstGeom>
          <a:solidFill>
            <a:srgbClr val="6A3D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783080"/>
            <a:ext cx="21274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1206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240280"/>
            <a:ext cx="20725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Al-Jazari: autómatas con levas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721517" y="3136392"/>
            <a:ext cx="310896" cy="310896"/>
          </a:xfrm>
          <a:prstGeom prst="ellipse">
            <a:avLst/>
          </a:prstGeom>
          <a:solidFill>
            <a:srgbClr val="0E8C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13243" y="3611880"/>
            <a:ext cx="21274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8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1920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840675" y="4069080"/>
            <a:ext cx="20725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Čapek inventa la palabra «robot»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940400" y="3136392"/>
            <a:ext cx="310896" cy="310896"/>
          </a:xfrm>
          <a:prstGeom prst="ellipse">
            <a:avLst/>
          </a:prstGeom>
          <a:solidFill>
            <a:srgbClr val="A852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32126" y="1783080"/>
            <a:ext cx="21274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1961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059558" y="2240280"/>
            <a:ext cx="20725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Unimate, primer robot industrial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59283" y="3136392"/>
            <a:ext cx="310896" cy="310896"/>
          </a:xfrm>
          <a:prstGeom prst="ellipse">
            <a:avLst/>
          </a:prstGeom>
          <a:solidFill>
            <a:srgbClr val="3F4E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51009" y="3611880"/>
            <a:ext cx="21274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4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278441" y="4069080"/>
            <a:ext cx="20725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Sojourner recorre Marte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10378166" y="3136392"/>
            <a:ext cx="310896" cy="310896"/>
          </a:xfrm>
          <a:prstGeom prst="ellipse">
            <a:avLst/>
          </a:prstGeom>
          <a:solidFill>
            <a:srgbClr val="6A3D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69892" y="1783080"/>
            <a:ext cx="21274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497324" y="2240280"/>
            <a:ext cx="20725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con IA, visión e IoT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5394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autómata repite movimientos fijos; un robot es programable y reacciona a sus sensores.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niveles de inteligencia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EEE8FB"/>
          </a:solidFill>
          <a:ln w="9525">
            <a:solidFill>
              <a:srgbClr val="A98B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459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1645920"/>
            <a:ext cx="9631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Programados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 fijas, sin aprender. Ej.: robot de ensamblaje.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DCD0F8"/>
          </a:solidFill>
          <a:ln w="9525">
            <a:solidFill>
              <a:srgbClr val="A98B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7889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2697480" y="2788920"/>
            <a:ext cx="8945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Adaptativos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Ajustan su conducta con sensores. Ej.: aspiradora que esquiva obstáculos.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9319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C6B2F3"/>
          </a:solidFill>
          <a:ln w="9525">
            <a:solidFill>
              <a:srgbClr val="A98B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931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3931920"/>
            <a:ext cx="8259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Inteligentes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IA para aprender y decidir. Ej.: vehículo autónomo.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507492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A98BFA"/>
          </a:solidFill>
          <a:ln w="9525">
            <a:solidFill>
              <a:srgbClr val="A98B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50749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069080" y="5074920"/>
            <a:ext cx="7573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Autónomos avanzados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Planifican y aprenden continuamente. Ej.: rover de exploración espacial.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un robot en tres capas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robot que recoge latas para la competencia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20345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263140"/>
            <a:ext cx="731520" cy="73152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453335"/>
            <a:ext cx="351130" cy="3511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30861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física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4330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Chasis de acrílico, dos ruedas motrices y una pinza de dos dedos.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4338218" y="20345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2263140"/>
            <a:ext cx="731520" cy="73152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014" y="245333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66818" y="30861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control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354330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ultrasónico, placa controladora y driver de motores.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8127797" y="20345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2263140"/>
            <a:ext cx="731520" cy="731520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592" y="2453335"/>
            <a:ext cx="351130" cy="35113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56397" y="30861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3543300"/>
            <a:ext cx="305805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lata está a menos de 5 cm ENTONCES cerrar la pinza.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548640" y="5532120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capas dependen entre sí: una pinza más pesada exige motores y batería más fuertes.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por sector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423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Domótica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8803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Hogar: luces, cerraduras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390824" y="15544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19424" y="2423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Inmótica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619424" y="28803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Edificios: accesos, ascensores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233008" y="15544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61608" y="2423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Médica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461608" y="28803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asistida, prótesis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9075191" y="15544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303791" y="24231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Espacial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9303791" y="28803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Rovers y brazos en estaciones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548640" y="39547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77240" y="4183380"/>
            <a:ext cx="548640" cy="548640"/>
          </a:xfrm>
          <a:prstGeom prst="ellipse">
            <a:avLst/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2602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77240" y="48234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Submarina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777240" y="52806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cerca de la Isla del Coco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3390824" y="39547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3619424" y="4183380"/>
            <a:ext cx="548640" cy="548640"/>
          </a:xfrm>
          <a:prstGeom prst="ellipse">
            <a:avLst/>
          </a:prstGeom>
          <a:solidFill>
            <a:srgbClr val="0E8C81"/>
          </a:solidFill>
          <a:ln w="12700">
            <a:solidFill>
              <a:srgbClr val="0E8C8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2070" y="4326026"/>
            <a:ext cx="263347" cy="26334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3619424" y="48234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Automotriz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3619424" y="52806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Soldadura y pintura de carrocerías</a:t>
            </a:r>
            <a:endParaRPr lang="en-US" sz="1600" dirty="0"/>
          </a:p>
        </p:txBody>
      </p:sp>
      <p:sp>
        <p:nvSpPr>
          <p:cNvPr id="34" name="Shape 25"/>
          <p:cNvSpPr/>
          <p:nvPr/>
        </p:nvSpPr>
        <p:spPr>
          <a:xfrm>
            <a:off x="6233008" y="39547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461608" y="4183380"/>
            <a:ext cx="548640" cy="548640"/>
          </a:xfrm>
          <a:prstGeom prst="ellipse">
            <a:avLst/>
          </a:prstGeom>
          <a:solidFill>
            <a:srgbClr val="A8520B"/>
          </a:solidFill>
          <a:ln w="12700">
            <a:solidFill>
              <a:srgbClr val="A8520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254" y="4326026"/>
            <a:ext cx="263347" cy="263347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461608" y="48234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800" dirty="0"/>
          </a:p>
        </p:txBody>
      </p:sp>
      <p:sp>
        <p:nvSpPr>
          <p:cNvPr id="38" name="Text 28"/>
          <p:cNvSpPr txBox="1"/>
          <p:nvPr/>
        </p:nvSpPr>
        <p:spPr>
          <a:xfrm>
            <a:off x="6461608" y="52806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educativos y de compañía</a:t>
            </a:r>
            <a:endParaRPr lang="en-US" sz="1600" dirty="0"/>
          </a:p>
        </p:txBody>
      </p:sp>
      <p:sp>
        <p:nvSpPr>
          <p:cNvPr id="39" name="Shape 29"/>
          <p:cNvSpPr/>
          <p:nvPr/>
        </p:nvSpPr>
        <p:spPr>
          <a:xfrm>
            <a:off x="9075191" y="3954780"/>
            <a:ext cx="2567864" cy="212598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9303791" y="4183380"/>
            <a:ext cx="548640" cy="548640"/>
          </a:xfrm>
          <a:prstGeom prst="ellipse">
            <a:avLst/>
          </a:prstGeom>
          <a:solidFill>
            <a:srgbClr val="3F4E8C"/>
          </a:solidFill>
          <a:ln w="12700">
            <a:solidFill>
              <a:srgbClr val="3F4E8C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6438" y="4326026"/>
            <a:ext cx="263347" cy="263347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303791" y="482346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endParaRPr lang="en-US" sz="1800" dirty="0"/>
          </a:p>
        </p:txBody>
      </p:sp>
      <p:sp>
        <p:nvSpPr>
          <p:cNvPr id="43" name="Text 32"/>
          <p:cNvSpPr txBox="1"/>
          <p:nvPr/>
        </p:nvSpPr>
        <p:spPr>
          <a:xfrm>
            <a:off x="9303791" y="5280660"/>
            <a:ext cx="2110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Bodegas y logística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Evaluar: efectividad y eficiencia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5852160" cy="4297680"/>
          </a:xfrm>
          <a:prstGeom prst="roundRect">
            <a:avLst>
              <a:gd name="adj" fmla="val 3191"/>
            </a:avLst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Efectividad: ¿cumple su función?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774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Éxitos ÷ intentos × 100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2519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Eficiencia: ¿usa bien los recursos? Se mide con tiempo por tarea, batería consumida y materiales. Un robot puede ser efectivo sin ser eficiente.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20840" y="1737360"/>
            <a:ext cx="4922215" cy="4297680"/>
          </a:xfrm>
          <a:prstGeom prst="roundRect">
            <a:avLst>
              <a:gd name="adj" fmla="val 2553"/>
            </a:avLst>
          </a:prstGeom>
          <a:solidFill>
            <a:srgbClr val="F3F5F9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5160" y="1965960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práctico: Reto RoboTico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2560320"/>
            <a:ext cx="437357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 tomó la lata en 17 de 20 intentos.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= 17 ÷ 20 × 100 = 85 %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Tiempos: 30 s, 34 s y 26 s → promedio 30 s.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 era 25 s: es efectivo, pero poco eficiente.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bajar la velocidad en curvas y revisar sensores.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rápido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78992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Respondé en voz alta o en tu cuaderno antes de abrir el cotidiano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¿1?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nivel está una aspiradora que esquiva sillas?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783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3F3F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7328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¿2?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507328" y="2468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domótica e inmótica?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FBEFE3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852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¿3?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754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robot logra 12 de 16 intentos: ¿cuál es su efectividad?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33008" y="4069080"/>
            <a:ext cx="5410048" cy="2011680"/>
          </a:xfrm>
          <a:prstGeom prst="roundRect">
            <a:avLst>
              <a:gd name="adj" fmla="val 5455"/>
            </a:avLst>
          </a:prstGeom>
          <a:solidFill>
            <a:srgbClr val="EEE8FB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7328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A3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¿4?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475488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un robot ser efectivo sin ser eficiente? Explicá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0"/>
            <a:ext cx="4754880" cy="47548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D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</a:t>
            </a:r>
            <a:endParaRPr lang="en-US" sz="16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1430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buen robot cumple y aprovecha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606040"/>
            <a:ext cx="7498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robots evolucionaron de autómatas a sistemas inteligentes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diseñan en estructura, control y programación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evalúan con efectividad y eficiencia, con datos medidos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40080" y="5257800"/>
            <a:ext cx="7498080" cy="777240"/>
          </a:xfrm>
          <a:prstGeom prst="roundRect">
            <a:avLst>
              <a:gd name="adj" fmla="val 14118"/>
            </a:avLst>
          </a:prstGeom>
          <a:solidFill>
            <a:srgbClr val="6A3DD8"/>
          </a:solidFill>
          <a:ln w="12700">
            <a:solidFill>
              <a:srgbClr val="6A3DD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14400" y="52578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cotidiano interactivo «Reto RoboTico»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tica U3">
  <a:themeElements>
    <a:clrScheme name="Robotica U3">
      <a:dk1>
        <a:srgbClr val="14203A"/>
      </a:dk1>
      <a:lt1>
        <a:srgbClr val="FFFFFF"/>
      </a:lt1>
      <a:dk2>
        <a:srgbClr val="101A2E"/>
      </a:dk2>
      <a:lt2>
        <a:srgbClr val="F3F5F9"/>
      </a:lt2>
      <a:accent1>
        <a:srgbClr val="6A3DD8"/>
      </a:accent1>
      <a:accent2>
        <a:srgbClr val="0E8C81"/>
      </a:accent2>
      <a:accent3>
        <a:srgbClr val="A8520B"/>
      </a:accent3>
      <a:accent4>
        <a:srgbClr val="A98BFA"/>
      </a:accent4>
      <a:accent5>
        <a:srgbClr val="3DD3C2"/>
      </a:accent5>
      <a:accent6>
        <a:srgbClr val="F0A855"/>
      </a:accent6>
      <a:hlink>
        <a:srgbClr val="6A3DD8"/>
      </a:hlink>
      <a:folHlink>
        <a:srgbClr val="0E8C81"/>
      </a:folHlink>
    </a:clrScheme>
    <a:fontScheme name="Robotica U3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CTP Mercedes Norte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RA6 Robots y retos: repaso y práctica</dc:title>
  <dc:subject>PptxGenJS Presentation</dc:subject>
  <dc:creator>MsC. Ericka Hernández Mena</dc:creator>
  <cp:lastModifiedBy>MsC. Ericka Hernández Mena</cp:lastModifiedBy>
  <cp:revision>1</cp:revision>
  <dcterms:created xsi:type="dcterms:W3CDTF">2026-10-06T18:27:34Z</dcterms:created>
  <dcterms:modified xsi:type="dcterms:W3CDTF">2026-10-06T18:27:34Z</dcterms:modified>
</cp:coreProperties>
</file>